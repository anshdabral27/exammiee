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1645920"/>
            <a:ext cx="91440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6400">
                <a:solidFill>
                  <a:srgbClr val="3B82F6"/>
                </a:solidFill>
              </a:defRPr>
            </a:pPr>
            <a:r>
              <a:t>EXAMMIEE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292608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59E0B"/>
                </a:solidFill>
              </a:defRPr>
            </a:pPr>
            <a:r>
              <a:t>Secure AI-Powered Examination &amp; Proctoring Framework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466344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94A3B8"/>
                </a:solidFill>
              </a:defRPr>
            </a:pPr>
            <a:r>
              <a:t>School of Technology | Innovation in Education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3B82F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F59E0B"/>
                </a:solidFill>
              </a:defRPr>
            </a:pPr>
            <a:r>
              <a:t>Project Mission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4572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F8FAFC"/>
                </a:solidFill>
              </a:defRPr>
            </a:pPr>
            <a:r>
              <a:t>• Modernizing academic integrity in the digital era.</a:t>
            </a:r>
          </a:p>
          <a:p>
            <a:pPr>
              <a:spcAft>
                <a:spcPts val="1000"/>
              </a:spcAft>
              <a:defRPr sz="1800">
                <a:solidFill>
                  <a:srgbClr val="F8FAFC"/>
                </a:solidFill>
              </a:defRPr>
            </a:pPr>
            <a:r>
              <a:t>• Creating a seamless bridge between teachers and students.</a:t>
            </a:r>
          </a:p>
          <a:p>
            <a:pPr>
              <a:spcAft>
                <a:spcPts val="1000"/>
              </a:spcAft>
              <a:defRPr sz="1800">
                <a:solidFill>
                  <a:srgbClr val="F8FAFC"/>
                </a:solidFill>
              </a:defRPr>
            </a:pPr>
            <a:r>
              <a:t>• Eliminating geographical barriers in higher education.</a:t>
            </a:r>
          </a:p>
          <a:p>
            <a:pPr>
              <a:spcAft>
                <a:spcPts val="1000"/>
              </a:spcAft>
              <a:defRPr sz="1800">
                <a:solidFill>
                  <a:srgbClr val="F8FAFC"/>
                </a:solidFill>
              </a:defRPr>
            </a:pPr>
            <a:r>
              <a:t>• Ensuring 100% fair evaluation through automation.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0" y="1371600"/>
            <a:ext cx="3383280" cy="4114800"/>
          </a:xfrm>
          <a:prstGeom prst="rect">
            <a:avLst/>
          </a:prstGeom>
          <a:solidFill>
            <a:srgbClr val="1E293B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0" y="3246120"/>
            <a:ext cx="33832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94A3B8"/>
                </a:solidFill>
              </a:defRPr>
            </a:pPr>
            <a:r>
              <a:t>Visual Demo / Screenshot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3B82F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F59E0B"/>
                </a:solidFill>
              </a:defRPr>
            </a:pPr>
            <a:r>
              <a:t>The 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4572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F8FAFC"/>
                </a:solidFill>
              </a:defRPr>
            </a:pPr>
            <a:r>
              <a:t>• Rampant academic dishonesty in unmonitored exams.</a:t>
            </a:r>
          </a:p>
          <a:p>
            <a:pPr>
              <a:spcAft>
                <a:spcPts val="1000"/>
              </a:spcAft>
              <a:defRPr sz="1800">
                <a:solidFill>
                  <a:srgbClr val="F8FAFC"/>
                </a:solidFill>
              </a:defRPr>
            </a:pPr>
            <a:r>
              <a:t>• Heavily manual and error-prone grading processes.</a:t>
            </a:r>
          </a:p>
          <a:p>
            <a:pPr>
              <a:spcAft>
                <a:spcPts val="1000"/>
              </a:spcAft>
              <a:defRPr sz="1800">
                <a:solidFill>
                  <a:srgbClr val="F8FAFC"/>
                </a:solidFill>
              </a:defRPr>
            </a:pPr>
            <a:r>
              <a:t>• Administrative overhead in managing test assignments.</a:t>
            </a:r>
          </a:p>
          <a:p>
            <a:pPr>
              <a:spcAft>
                <a:spcPts val="1000"/>
              </a:spcAft>
              <a:defRPr sz="1800">
                <a:solidFill>
                  <a:srgbClr val="F8FAFC"/>
                </a:solidFill>
              </a:defRPr>
            </a:pPr>
            <a:r>
              <a:t>• Environmental impact of physical paper consumption.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0" y="1371600"/>
            <a:ext cx="3383280" cy="4114800"/>
          </a:xfrm>
          <a:prstGeom prst="rect">
            <a:avLst/>
          </a:prstGeom>
          <a:solidFill>
            <a:srgbClr val="1E293B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0" y="3246120"/>
            <a:ext cx="33832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94A3B8"/>
                </a:solidFill>
              </a:defRPr>
            </a:pPr>
            <a:r>
              <a:t>Visual Demo / Screenshot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3B82F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F59E0B"/>
                </a:solidFill>
              </a:defRPr>
            </a:pPr>
            <a:r>
              <a:t>The Core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4572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F8FAFC"/>
                </a:solidFill>
              </a:defRPr>
            </a:pPr>
            <a:r>
              <a:t>• End-to-End Secure Assessment Environment.</a:t>
            </a:r>
          </a:p>
          <a:p>
            <a:pPr>
              <a:spcAft>
                <a:spcPts val="1000"/>
              </a:spcAft>
              <a:defRPr sz="1800">
                <a:solidFill>
                  <a:srgbClr val="F8FAFC"/>
                </a:solidFill>
              </a:defRPr>
            </a:pPr>
            <a:r>
              <a:t>• Dual-Layer Proctoring: AI Vision + Browser Lockdown.</a:t>
            </a:r>
          </a:p>
          <a:p>
            <a:pPr>
              <a:spcAft>
                <a:spcPts val="1000"/>
              </a:spcAft>
              <a:defRPr sz="1800">
                <a:solidFill>
                  <a:srgbClr val="F8FAFC"/>
                </a:solidFill>
              </a:defRPr>
            </a:pPr>
            <a:r>
              <a:t>• Instant Feedback and Result Analytics.</a:t>
            </a:r>
          </a:p>
          <a:p>
            <a:pPr>
              <a:spcAft>
                <a:spcPts val="1000"/>
              </a:spcAft>
              <a:defRPr sz="1800">
                <a:solidFill>
                  <a:srgbClr val="F8FAFC"/>
                </a:solidFill>
              </a:defRPr>
            </a:pPr>
            <a:r>
              <a:t>• Automated Administrative workflows for scalability.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0" y="1371600"/>
            <a:ext cx="3383280" cy="4114800"/>
          </a:xfrm>
          <a:prstGeom prst="rect">
            <a:avLst/>
          </a:prstGeom>
          <a:solidFill>
            <a:srgbClr val="1E293B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0" y="3246120"/>
            <a:ext cx="33832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94A3B8"/>
                </a:solidFill>
              </a:defRPr>
            </a:pPr>
            <a:r>
              <a:t>Visual Demo / Screenshot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3B82F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F59E0B"/>
                </a:solidFill>
              </a:defRPr>
            </a:pPr>
            <a:r>
              <a:t>Tech Stack: Frontend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4572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F8FAFC"/>
                </a:solidFill>
              </a:defRPr>
            </a:pPr>
            <a:r>
              <a:t>• Tailwind CSS: High-fidelity glassmorphic design.</a:t>
            </a:r>
          </a:p>
          <a:p>
            <a:pPr>
              <a:spcAft>
                <a:spcPts val="1000"/>
              </a:spcAft>
              <a:defRPr sz="1800">
                <a:solidFill>
                  <a:srgbClr val="F8FAFC"/>
                </a:solidFill>
              </a:defRPr>
            </a:pPr>
            <a:r>
              <a:t>• Vanilla ES6 JavaScript: Dynamic application state management.</a:t>
            </a:r>
          </a:p>
          <a:p>
            <a:pPr>
              <a:spcAft>
                <a:spcPts val="1000"/>
              </a:spcAft>
              <a:defRPr sz="1800">
                <a:solidFill>
                  <a:srgbClr val="F8FAFC"/>
                </a:solidFill>
              </a:defRPr>
            </a:pPr>
            <a:r>
              <a:t>• Single-Page Application (SPA) architecture.</a:t>
            </a:r>
          </a:p>
          <a:p>
            <a:pPr>
              <a:spcAft>
                <a:spcPts val="1000"/>
              </a:spcAft>
              <a:defRPr sz="1800">
                <a:solidFill>
                  <a:srgbClr val="F8FAFC"/>
                </a:solidFill>
              </a:defRPr>
            </a:pPr>
            <a:r>
              <a:t>• Responsive layouts for desktop and tablet devices.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0" y="1371600"/>
            <a:ext cx="3383280" cy="4114800"/>
          </a:xfrm>
          <a:prstGeom prst="rect">
            <a:avLst/>
          </a:prstGeom>
          <a:solidFill>
            <a:srgbClr val="1E293B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0" y="3246120"/>
            <a:ext cx="33832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94A3B8"/>
                </a:solidFill>
              </a:defRPr>
            </a:pPr>
            <a:r>
              <a:t>Visual Demo / Screenshot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3B82F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F59E0B"/>
                </a:solidFill>
              </a:defRPr>
            </a:pPr>
            <a:r>
              <a:t>Tech Stack: Backend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4572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F8FAFC"/>
                </a:solidFill>
              </a:defRPr>
            </a:pPr>
            <a:r>
              <a:t>• Node.js: Fast, event-driven server environment.</a:t>
            </a:r>
          </a:p>
          <a:p>
            <a:pPr>
              <a:spcAft>
                <a:spcPts val="1000"/>
              </a:spcAft>
              <a:defRPr sz="1800">
                <a:solidFill>
                  <a:srgbClr val="F8FAFC"/>
                </a:solidFill>
              </a:defRPr>
            </a:pPr>
            <a:r>
              <a:t>• Express.js: Efficient API routing and middleware.</a:t>
            </a:r>
          </a:p>
          <a:p>
            <a:pPr>
              <a:spcAft>
                <a:spcPts val="1000"/>
              </a:spcAft>
              <a:defRPr sz="1800">
                <a:solidFill>
                  <a:srgbClr val="F8FAFC"/>
                </a:solidFill>
              </a:defRPr>
            </a:pPr>
            <a:r>
              <a:t>• MySQL: Structured storage for complex user relationships.</a:t>
            </a:r>
          </a:p>
          <a:p>
            <a:pPr>
              <a:spcAft>
                <a:spcPts val="1000"/>
              </a:spcAft>
              <a:defRPr sz="1800">
                <a:solidFill>
                  <a:srgbClr val="F8FAFC"/>
                </a:solidFill>
              </a:defRPr>
            </a:pPr>
            <a:r>
              <a:t>• RESTful API design for robust communication.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0" y="1371600"/>
            <a:ext cx="3383280" cy="4114800"/>
          </a:xfrm>
          <a:prstGeom prst="rect">
            <a:avLst/>
          </a:prstGeom>
          <a:solidFill>
            <a:srgbClr val="1E293B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0" y="3246120"/>
            <a:ext cx="33832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94A3B8"/>
                </a:solidFill>
              </a:defRPr>
            </a:pPr>
            <a:r>
              <a:t>Visual Demo / Screenshot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3B82F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F59E0B"/>
                </a:solidFill>
              </a:defRPr>
            </a:pPr>
            <a:r>
              <a:t>AI &amp; Proctoring Tech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4572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F8FAFC"/>
                </a:solidFill>
              </a:defRPr>
            </a:pPr>
            <a:r>
              <a:t>• Face-API.js: Real-time neural networks for face tracking.</a:t>
            </a:r>
          </a:p>
          <a:p>
            <a:pPr>
              <a:spcAft>
                <a:spcPts val="1000"/>
              </a:spcAft>
              <a:defRPr sz="1800">
                <a:solidFill>
                  <a:srgbClr val="F8FAFC"/>
                </a:solidFill>
              </a:defRPr>
            </a:pPr>
            <a:r>
              <a:t>• Tab-Switch Detection: Monitors browser visibility state.</a:t>
            </a:r>
          </a:p>
          <a:p>
            <a:pPr>
              <a:spcAft>
                <a:spcPts val="1000"/>
              </a:spcAft>
              <a:defRPr sz="1800">
                <a:solidFill>
                  <a:srgbClr val="F8FAFC"/>
                </a:solidFill>
              </a:defRPr>
            </a:pPr>
            <a:r>
              <a:t>• Full-screen Lock: Ensures focused exam environment.</a:t>
            </a:r>
          </a:p>
          <a:p>
            <a:pPr>
              <a:spcAft>
                <a:spcPts val="1000"/>
              </a:spcAft>
              <a:defRPr sz="1800">
                <a:solidFill>
                  <a:srgbClr val="F8FAFC"/>
                </a:solidFill>
              </a:defRPr>
            </a:pPr>
            <a:r>
              <a:t>• Snapshot Cycle: Periodic captures for integrity review.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0" y="1371600"/>
            <a:ext cx="3383280" cy="4114800"/>
          </a:xfrm>
          <a:prstGeom prst="rect">
            <a:avLst/>
          </a:prstGeom>
          <a:solidFill>
            <a:srgbClr val="1E293B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0" y="3246120"/>
            <a:ext cx="33832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94A3B8"/>
                </a:solidFill>
              </a:defRPr>
            </a:pPr>
            <a:r>
              <a:t>Visual Demo / Screenshot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3B82F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F59E0B"/>
                </a:solidFill>
              </a:defRPr>
            </a:pPr>
            <a:r>
              <a:t>Admin Dashboard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4572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F8FAFC"/>
                </a:solidFill>
              </a:defRPr>
            </a:pPr>
            <a:r>
              <a:t>• Unified control panel with real-time statistics.</a:t>
            </a:r>
          </a:p>
          <a:p>
            <a:pPr>
              <a:spcAft>
                <a:spcPts val="1000"/>
              </a:spcAft>
              <a:defRPr sz="1800">
                <a:solidFill>
                  <a:srgbClr val="F8FAFC"/>
                </a:solidFill>
              </a:defRPr>
            </a:pPr>
            <a:r>
              <a:t>• Dynamic Test Creator with marking schemes.</a:t>
            </a:r>
          </a:p>
          <a:p>
            <a:pPr>
              <a:spcAft>
                <a:spcPts val="1000"/>
              </a:spcAft>
              <a:defRPr sz="1800">
                <a:solidFill>
                  <a:srgbClr val="F8FAFC"/>
                </a:solidFill>
              </a:defRPr>
            </a:pPr>
            <a:r>
              <a:t>• Detailed student activity and violation logs.</a:t>
            </a:r>
          </a:p>
          <a:p>
            <a:pPr>
              <a:spcAft>
                <a:spcPts val="1000"/>
              </a:spcAft>
              <a:defRPr sz="1800">
                <a:solidFill>
                  <a:srgbClr val="F8FAFC"/>
                </a:solidFill>
              </a:defRPr>
            </a:pPr>
            <a:r>
              <a:t>• Bulk management and automated email credentials.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0" y="1371600"/>
            <a:ext cx="3383280" cy="4114800"/>
          </a:xfrm>
          <a:prstGeom prst="rect">
            <a:avLst/>
          </a:prstGeom>
          <a:solidFill>
            <a:srgbClr val="1E293B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0" y="3246120"/>
            <a:ext cx="33832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94A3B8"/>
                </a:solidFill>
              </a:defRPr>
            </a:pPr>
            <a:r>
              <a:t>Visual Demo / Screenshot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3B82F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F59E0B"/>
                </a:solidFill>
              </a:defRPr>
            </a:pPr>
            <a:r>
              <a:t>Student Portal Experience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4572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F8FAFC"/>
                </a:solidFill>
              </a:defRPr>
            </a:pPr>
            <a:r>
              <a:t>• Simplified UI with prioritized task list.</a:t>
            </a:r>
          </a:p>
          <a:p>
            <a:pPr>
              <a:spcAft>
                <a:spcPts val="1000"/>
              </a:spcAft>
              <a:defRPr sz="1800">
                <a:solidFill>
                  <a:srgbClr val="F8FAFC"/>
                </a:solidFill>
              </a:defRPr>
            </a:pPr>
            <a:r>
              <a:t>• Instant exam start with instruction walk-through.</a:t>
            </a:r>
          </a:p>
          <a:p>
            <a:pPr>
              <a:spcAft>
                <a:spcPts val="1000"/>
              </a:spcAft>
              <a:defRPr sz="1800">
                <a:solidFill>
                  <a:srgbClr val="F8FAFC"/>
                </a:solidFill>
              </a:defRPr>
            </a:pPr>
            <a:r>
              <a:t>• Real-time timer and question navigation.</a:t>
            </a:r>
          </a:p>
          <a:p>
            <a:pPr>
              <a:spcAft>
                <a:spcPts val="1000"/>
              </a:spcAft>
              <a:defRPr sz="1800">
                <a:solidFill>
                  <a:srgbClr val="F8FAFC"/>
                </a:solidFill>
              </a:defRPr>
            </a:pPr>
            <a:r>
              <a:t>• Secure result review with performance metrics.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0" y="1371600"/>
            <a:ext cx="3383280" cy="4114800"/>
          </a:xfrm>
          <a:prstGeom prst="rect">
            <a:avLst/>
          </a:prstGeom>
          <a:solidFill>
            <a:srgbClr val="1E293B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0" y="3246120"/>
            <a:ext cx="33832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94A3B8"/>
                </a:solidFill>
              </a:defRPr>
            </a:pPr>
            <a:r>
              <a:t>Visual Demo / Screenshot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3B82F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F59E0B"/>
                </a:solidFill>
              </a:defRPr>
            </a:pPr>
            <a:r>
              <a:t>Super Admin Controls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4572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F8FAFC"/>
                </a:solidFill>
              </a:defRPr>
            </a:pPr>
            <a:r>
              <a:t>• Enterprise-level oversight of all system activities.</a:t>
            </a:r>
          </a:p>
          <a:p>
            <a:pPr>
              <a:spcAft>
                <a:spcPts val="1000"/>
              </a:spcAft>
              <a:defRPr sz="1800">
                <a:solidFill>
                  <a:srgbClr val="F8FAFC"/>
                </a:solidFill>
              </a:defRPr>
            </a:pPr>
            <a:r>
              <a:t>• Role assignment and Teacher management.</a:t>
            </a:r>
          </a:p>
          <a:p>
            <a:pPr>
              <a:spcAft>
                <a:spcPts val="1000"/>
              </a:spcAft>
              <a:defRPr sz="1800">
                <a:solidFill>
                  <a:srgbClr val="F8FAFC"/>
                </a:solidFill>
              </a:defRPr>
            </a:pPr>
            <a:r>
              <a:t>• System-wide log auditing and data cleanup.</a:t>
            </a:r>
          </a:p>
          <a:p>
            <a:pPr>
              <a:spcAft>
                <a:spcPts val="1000"/>
              </a:spcAft>
              <a:defRPr sz="1800">
                <a:solidFill>
                  <a:srgbClr val="F8FAFC"/>
                </a:solidFill>
              </a:defRPr>
            </a:pPr>
            <a:r>
              <a:t>• Global maintenance and security configuration.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0" y="1371600"/>
            <a:ext cx="3383280" cy="4114800"/>
          </a:xfrm>
          <a:prstGeom prst="rect">
            <a:avLst/>
          </a:prstGeom>
          <a:solidFill>
            <a:srgbClr val="1E293B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0" y="3246120"/>
            <a:ext cx="33832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94A3B8"/>
                </a:solidFill>
              </a:defRPr>
            </a:pPr>
            <a:r>
              <a:t>Visual Demo / Screenshot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3B82F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F59E0B"/>
                </a:solidFill>
              </a:defRPr>
            </a:pPr>
            <a:r>
              <a:t>Smart Test Creation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4572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F8FAFC"/>
                </a:solidFill>
              </a:defRPr>
            </a:pPr>
            <a:r>
              <a:t>• MCQ: Standard multiple choice interaction.</a:t>
            </a:r>
          </a:p>
          <a:p>
            <a:pPr>
              <a:spcAft>
                <a:spcPts val="1000"/>
              </a:spcAft>
              <a:defRPr sz="1800">
                <a:solidFill>
                  <a:srgbClr val="F8FAFC"/>
                </a:solidFill>
              </a:defRPr>
            </a:pPr>
            <a:r>
              <a:t>• MSQ: Advanced multiple select question types.</a:t>
            </a:r>
          </a:p>
          <a:p>
            <a:pPr>
              <a:spcAft>
                <a:spcPts val="1000"/>
              </a:spcAft>
              <a:defRPr sz="1800">
                <a:solidFill>
                  <a:srgbClr val="F8FAFC"/>
                </a:solidFill>
              </a:defRPr>
            </a:pPr>
            <a:r>
              <a:t>• Rich text support and mark weighting.</a:t>
            </a:r>
          </a:p>
          <a:p>
            <a:pPr>
              <a:spcAft>
                <a:spcPts val="1000"/>
              </a:spcAft>
              <a:defRPr sz="1800">
                <a:solidFill>
                  <a:srgbClr val="F8FAFC"/>
                </a:solidFill>
              </a:defRPr>
            </a:pPr>
            <a:r>
              <a:t>• Hidden/Visible score toggles for teachers.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0" y="1371600"/>
            <a:ext cx="3383280" cy="4114800"/>
          </a:xfrm>
          <a:prstGeom prst="rect">
            <a:avLst/>
          </a:prstGeom>
          <a:solidFill>
            <a:srgbClr val="1E293B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0" y="3246120"/>
            <a:ext cx="33832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94A3B8"/>
                </a:solidFill>
              </a:defRPr>
            </a:pPr>
            <a:r>
              <a:t>Visual Demo / Screenshot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3B82F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F59E0B"/>
                </a:solidFill>
              </a:defRPr>
            </a:pPr>
            <a:r>
              <a:t>Bulk Student Import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4572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F8FAFC"/>
                </a:solidFill>
              </a:defRPr>
            </a:pPr>
            <a:r>
              <a:t>• Process Excel spreadsheets (.xlsx) instantly.</a:t>
            </a:r>
          </a:p>
          <a:p>
            <a:pPr>
              <a:spcAft>
                <a:spcPts val="1000"/>
              </a:spcAft>
              <a:defRPr sz="1800">
                <a:solidFill>
                  <a:srgbClr val="F8FAFC"/>
                </a:solidFill>
              </a:defRPr>
            </a:pPr>
            <a:r>
              <a:t>• Parse Word documents (.docx) for student data.</a:t>
            </a:r>
          </a:p>
          <a:p>
            <a:pPr>
              <a:spcAft>
                <a:spcPts val="1000"/>
              </a:spcAft>
              <a:defRPr sz="1800">
                <a:solidFill>
                  <a:srgbClr val="F8FAFC"/>
                </a:solidFill>
              </a:defRPr>
            </a:pPr>
            <a:r>
              <a:t>• Automatic collision detection for usernames.</a:t>
            </a:r>
          </a:p>
          <a:p>
            <a:pPr>
              <a:spcAft>
                <a:spcPts val="1000"/>
              </a:spcAft>
              <a:defRPr sz="1800">
                <a:solidFill>
                  <a:srgbClr val="F8FAFC"/>
                </a:solidFill>
              </a:defRPr>
            </a:pPr>
            <a:r>
              <a:t>• Batch PDF export for student credentials.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0" y="1371600"/>
            <a:ext cx="3383280" cy="4114800"/>
          </a:xfrm>
          <a:prstGeom prst="rect">
            <a:avLst/>
          </a:prstGeom>
          <a:solidFill>
            <a:srgbClr val="1E293B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0" y="3246120"/>
            <a:ext cx="33832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94A3B8"/>
                </a:solidFill>
              </a:defRPr>
            </a:pPr>
            <a:r>
              <a:t>Visual Demo / Screenshot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3B82F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F59E0B"/>
                </a:solidFill>
              </a:defRPr>
            </a:pPr>
            <a:r>
              <a:t>Integrity Enforcement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4572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F8FAFC"/>
                </a:solidFill>
              </a:defRPr>
            </a:pPr>
            <a:r>
              <a:t>• Anti-Copy/Paste: Prevents external sourcing.</a:t>
            </a:r>
          </a:p>
          <a:p>
            <a:pPr>
              <a:spcAft>
                <a:spcPts val="1000"/>
              </a:spcAft>
              <a:defRPr sz="1800">
                <a:solidFill>
                  <a:srgbClr val="F8FAFC"/>
                </a:solidFill>
              </a:defRPr>
            </a:pPr>
            <a:r>
              <a:t>• ContextMenu Block: Disables browser developer tools.</a:t>
            </a:r>
          </a:p>
          <a:p>
            <a:pPr>
              <a:spcAft>
                <a:spcPts val="1000"/>
              </a:spcAft>
              <a:defRPr sz="1800">
                <a:solidFill>
                  <a:srgbClr val="F8FAFC"/>
                </a:solidFill>
              </a:defRPr>
            </a:pPr>
            <a:r>
              <a:t>• Multi-strike system: Auto-submit on 3 violations.</a:t>
            </a:r>
          </a:p>
          <a:p>
            <a:pPr>
              <a:spcAft>
                <a:spcPts val="1000"/>
              </a:spcAft>
              <a:defRPr sz="1800">
                <a:solidFill>
                  <a:srgbClr val="F8FAFC"/>
                </a:solidFill>
              </a:defRPr>
            </a:pPr>
            <a:r>
              <a:t>• Visual alerts for proctoring offenses.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0" y="1371600"/>
            <a:ext cx="3383280" cy="4114800"/>
          </a:xfrm>
          <a:prstGeom prst="rect">
            <a:avLst/>
          </a:prstGeom>
          <a:solidFill>
            <a:srgbClr val="1E293B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0" y="3246120"/>
            <a:ext cx="33832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94A3B8"/>
                </a:solidFill>
              </a:defRPr>
            </a:pPr>
            <a:r>
              <a:t>Visual Demo / Screenshot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3B82F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F59E0B"/>
                </a:solidFill>
              </a:defRPr>
            </a:pPr>
            <a:r>
              <a:t>Result Analytics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4572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F8FAFC"/>
                </a:solidFill>
              </a:defRPr>
            </a:pPr>
            <a:r>
              <a:t>• Categorized performance breakdown.</a:t>
            </a:r>
          </a:p>
          <a:p>
            <a:pPr>
              <a:spcAft>
                <a:spcPts val="1000"/>
              </a:spcAft>
              <a:defRPr sz="1800">
                <a:solidFill>
                  <a:srgbClr val="F8FAFC"/>
                </a:solidFill>
              </a:defRPr>
            </a:pPr>
            <a:r>
              <a:t>• Visual snapshots paired with specific violations.</a:t>
            </a:r>
          </a:p>
          <a:p>
            <a:pPr>
              <a:spcAft>
                <a:spcPts val="1000"/>
              </a:spcAft>
              <a:defRPr sz="1800">
                <a:solidFill>
                  <a:srgbClr val="F8FAFC"/>
                </a:solidFill>
              </a:defRPr>
            </a:pPr>
            <a:r>
              <a:t>• Exportable CSV and PDF gradebooks.</a:t>
            </a:r>
          </a:p>
          <a:p>
            <a:pPr>
              <a:spcAft>
                <a:spcPts val="1000"/>
              </a:spcAft>
              <a:defRPr sz="1800">
                <a:solidFill>
                  <a:srgbClr val="F8FAFC"/>
                </a:solidFill>
              </a:defRPr>
            </a:pPr>
            <a:r>
              <a:t>• Historical progress tracking for students.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0" y="1371600"/>
            <a:ext cx="3383280" cy="4114800"/>
          </a:xfrm>
          <a:prstGeom prst="rect">
            <a:avLst/>
          </a:prstGeom>
          <a:solidFill>
            <a:srgbClr val="1E293B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0" y="3246120"/>
            <a:ext cx="33832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94A3B8"/>
                </a:solidFill>
              </a:defRPr>
            </a:pPr>
            <a:r>
              <a:t>Visual Demo / Screenshot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3B82F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F59E0B"/>
                </a:solidFill>
              </a:defRPr>
            </a:pPr>
            <a: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4572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F8FAFC"/>
                </a:solidFill>
              </a:defRPr>
            </a:pPr>
            <a:r>
              <a:t>• Client-Side State Management (APP_STATE).</a:t>
            </a:r>
          </a:p>
          <a:p>
            <a:pPr>
              <a:spcAft>
                <a:spcPts val="1000"/>
              </a:spcAft>
              <a:defRPr sz="1800">
                <a:solidFill>
                  <a:srgbClr val="F8FAFC"/>
                </a:solidFill>
              </a:defRPr>
            </a:pPr>
            <a:r>
              <a:t>• Stateless API endpoints for scalability.</a:t>
            </a:r>
          </a:p>
          <a:p>
            <a:pPr>
              <a:spcAft>
                <a:spcPts val="1000"/>
              </a:spcAft>
              <a:defRPr sz="1800">
                <a:solidFill>
                  <a:srgbClr val="F8FAFC"/>
                </a:solidFill>
              </a:defRPr>
            </a:pPr>
            <a:r>
              <a:t>• Relational Data Modeling for consistency.</a:t>
            </a:r>
          </a:p>
          <a:p>
            <a:pPr>
              <a:spcAft>
                <a:spcPts val="1000"/>
              </a:spcAft>
              <a:defRPr sz="1800">
                <a:solidFill>
                  <a:srgbClr val="F8FAFC"/>
                </a:solidFill>
              </a:defRPr>
            </a:pPr>
            <a:r>
              <a:t>• Optimized for low-latency visual processing.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0" y="1371600"/>
            <a:ext cx="3383280" cy="4114800"/>
          </a:xfrm>
          <a:prstGeom prst="rect">
            <a:avLst/>
          </a:prstGeom>
          <a:solidFill>
            <a:srgbClr val="1E293B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0" y="3246120"/>
            <a:ext cx="33832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94A3B8"/>
                </a:solidFill>
              </a:defRPr>
            </a:pPr>
            <a:r>
              <a:t>Visual Demo / Screenshot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3B82F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F59E0B"/>
                </a:solidFill>
              </a:defRPr>
            </a:pPr>
            <a:r>
              <a:t>Data Security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4572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F8FAFC"/>
                </a:solidFill>
              </a:defRPr>
            </a:pPr>
            <a:r>
              <a:t>• Encrypted password storage in MySQL.</a:t>
            </a:r>
          </a:p>
          <a:p>
            <a:pPr>
              <a:spcAft>
                <a:spcPts val="1000"/>
              </a:spcAft>
              <a:defRPr sz="1800">
                <a:solidFill>
                  <a:srgbClr val="F8FAFC"/>
                </a:solidFill>
              </a:defRPr>
            </a:pPr>
            <a:r>
              <a:t>• Protected API routes with role validation.</a:t>
            </a:r>
          </a:p>
          <a:p>
            <a:pPr>
              <a:spcAft>
                <a:spcPts val="1000"/>
              </a:spcAft>
              <a:defRPr sz="1800">
                <a:solidFill>
                  <a:srgbClr val="F8FAFC"/>
                </a:solidFill>
              </a:defRPr>
            </a:pPr>
            <a:r>
              <a:t>• Input sanitization to prevent XSS and SQL Injection.</a:t>
            </a:r>
          </a:p>
          <a:p>
            <a:pPr>
              <a:spcAft>
                <a:spcPts val="1000"/>
              </a:spcAft>
              <a:defRPr sz="1800">
                <a:solidFill>
                  <a:srgbClr val="F8FAFC"/>
                </a:solidFill>
              </a:defRPr>
            </a:pPr>
            <a:r>
              <a:t>• Secure session handling and timeout logic.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0" y="1371600"/>
            <a:ext cx="3383280" cy="4114800"/>
          </a:xfrm>
          <a:prstGeom prst="rect">
            <a:avLst/>
          </a:prstGeom>
          <a:solidFill>
            <a:srgbClr val="1E293B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0" y="3246120"/>
            <a:ext cx="33832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94A3B8"/>
                </a:solidFill>
              </a:defRPr>
            </a:pPr>
            <a:r>
              <a:t>Visual Demo / Screenshot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3B82F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F59E0B"/>
                </a:solidFill>
              </a:defRPr>
            </a:pPr>
            <a:r>
              <a:t>User Workflow: Setup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4572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F8FAFC"/>
                </a:solidFill>
              </a:defRPr>
            </a:pPr>
            <a:r>
              <a:t>• 1. Admin registers and configures system.</a:t>
            </a:r>
          </a:p>
          <a:p>
            <a:pPr>
              <a:spcAft>
                <a:spcPts val="1000"/>
              </a:spcAft>
              <a:defRPr sz="1800">
                <a:solidFill>
                  <a:srgbClr val="F8FAFC"/>
                </a:solidFill>
              </a:defRPr>
            </a:pPr>
            <a:r>
              <a:t>• 2. Teacher creates dynamic question bank.</a:t>
            </a:r>
          </a:p>
          <a:p>
            <a:pPr>
              <a:spcAft>
                <a:spcPts val="1000"/>
              </a:spcAft>
              <a:defRPr sz="1800">
                <a:solidFill>
                  <a:srgbClr val="F8FAFC"/>
                </a:solidFill>
              </a:defRPr>
            </a:pPr>
            <a:r>
              <a:t>• 3. Students imported via bulk upload tools.</a:t>
            </a:r>
          </a:p>
          <a:p>
            <a:pPr>
              <a:spcAft>
                <a:spcPts val="1000"/>
              </a:spcAft>
              <a:defRPr sz="1800">
                <a:solidFill>
                  <a:srgbClr val="F8FAFC"/>
                </a:solidFill>
              </a:defRPr>
            </a:pPr>
            <a:r>
              <a:t>• 4. Assignments dispatched to specific cohorts.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0" y="1371600"/>
            <a:ext cx="3383280" cy="4114800"/>
          </a:xfrm>
          <a:prstGeom prst="rect">
            <a:avLst/>
          </a:prstGeom>
          <a:solidFill>
            <a:srgbClr val="1E293B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0" y="3246120"/>
            <a:ext cx="33832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94A3B8"/>
                </a:solidFill>
              </a:defRPr>
            </a:pPr>
            <a:r>
              <a:t>Visual Demo / Screenshot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3B82F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F59E0B"/>
                </a:solidFill>
              </a:defRPr>
            </a:pPr>
            <a:r>
              <a:t>User Workflow: Execution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4572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F8FAFC"/>
                </a:solidFill>
              </a:defRPr>
            </a:pPr>
            <a:r>
              <a:t>• 1. Student authenticates securely.</a:t>
            </a:r>
          </a:p>
          <a:p>
            <a:pPr>
              <a:spcAft>
                <a:spcPts val="1000"/>
              </a:spcAft>
              <a:defRPr sz="1800">
                <a:solidFill>
                  <a:srgbClr val="F8FAFC"/>
                </a:solidFill>
              </a:defRPr>
            </a:pPr>
            <a:r>
              <a:t>• 2. AI and Browser proctoring services initialize.</a:t>
            </a:r>
          </a:p>
          <a:p>
            <a:pPr>
              <a:spcAft>
                <a:spcPts val="1000"/>
              </a:spcAft>
              <a:defRPr sz="1800">
                <a:solidFill>
                  <a:srgbClr val="F8FAFC"/>
                </a:solidFill>
              </a:defRPr>
            </a:pPr>
            <a:r>
              <a:t>• 3. Student attempts questions under strict monitoring.</a:t>
            </a:r>
          </a:p>
          <a:p>
            <a:pPr>
              <a:spcAft>
                <a:spcPts val="1000"/>
              </a:spcAft>
              <a:defRPr sz="1800">
                <a:solidFill>
                  <a:srgbClr val="F8FAFC"/>
                </a:solidFill>
              </a:defRPr>
            </a:pPr>
            <a:r>
              <a:t>• 4. Results processed and violations logged.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0" y="1371600"/>
            <a:ext cx="3383280" cy="4114800"/>
          </a:xfrm>
          <a:prstGeom prst="rect">
            <a:avLst/>
          </a:prstGeom>
          <a:solidFill>
            <a:srgbClr val="1E293B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0" y="3246120"/>
            <a:ext cx="33832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94A3B8"/>
                </a:solidFill>
              </a:defRPr>
            </a:pPr>
            <a:r>
              <a:t>Visual Demo / Screenshot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3B82F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F59E0B"/>
                </a:solidFill>
              </a:defRPr>
            </a:pPr>
            <a:r>
              <a:t>Sustainability 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4572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F8FAFC"/>
                </a:solidFill>
              </a:defRPr>
            </a:pPr>
            <a:r>
              <a:t>• Significant reduction in paper and printing costs.</a:t>
            </a:r>
          </a:p>
          <a:p>
            <a:pPr>
              <a:spcAft>
                <a:spcPts val="1000"/>
              </a:spcAft>
              <a:defRPr sz="1800">
                <a:solidFill>
                  <a:srgbClr val="F8FAFC"/>
                </a:solidFill>
              </a:defRPr>
            </a:pPr>
            <a:r>
              <a:t>• Lower carbon footprint for exam logistics.</a:t>
            </a:r>
          </a:p>
          <a:p>
            <a:pPr>
              <a:spcAft>
                <a:spcPts val="1000"/>
              </a:spcAft>
              <a:defRPr sz="1800">
                <a:solidFill>
                  <a:srgbClr val="F8FAFC"/>
                </a:solidFill>
              </a:defRPr>
            </a:pPr>
            <a:r>
              <a:t>• Scalable to thousands of students without extra hardware.</a:t>
            </a:r>
          </a:p>
          <a:p>
            <a:pPr>
              <a:spcAft>
                <a:spcPts val="1000"/>
              </a:spcAft>
              <a:defRPr sz="1800">
                <a:solidFill>
                  <a:srgbClr val="F8FAFC"/>
                </a:solidFill>
              </a:defRPr>
            </a:pPr>
            <a:r>
              <a:t>• Optimized resource usage in data handling.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0" y="1371600"/>
            <a:ext cx="3383280" cy="4114800"/>
          </a:xfrm>
          <a:prstGeom prst="rect">
            <a:avLst/>
          </a:prstGeom>
          <a:solidFill>
            <a:srgbClr val="1E293B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0" y="3246120"/>
            <a:ext cx="33832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94A3B8"/>
                </a:solidFill>
              </a:defRPr>
            </a:pPr>
            <a:r>
              <a:t>Visual Demo / Screenshot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3B82F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F59E0B"/>
                </a:solidFill>
              </a:defRPr>
            </a:pPr>
            <a:r>
              <a:t>Future Enhancements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4572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F8FAFC"/>
                </a:solidFill>
              </a:defRPr>
            </a:pPr>
            <a:r>
              <a:t>• Voice fingerprinting for extra identity layer.</a:t>
            </a:r>
          </a:p>
          <a:p>
            <a:pPr>
              <a:spcAft>
                <a:spcPts val="1000"/>
              </a:spcAft>
              <a:defRPr sz="1800">
                <a:solidFill>
                  <a:srgbClr val="F8FAFC"/>
                </a:solidFill>
              </a:defRPr>
            </a:pPr>
            <a:r>
              <a:t>• Gaze tracking using advanced ML models.</a:t>
            </a:r>
          </a:p>
          <a:p>
            <a:pPr>
              <a:spcAft>
                <a:spcPts val="1000"/>
              </a:spcAft>
              <a:defRPr sz="1800">
                <a:solidFill>
                  <a:srgbClr val="F8FAFC"/>
                </a:solidFill>
              </a:defRPr>
            </a:pPr>
            <a:r>
              <a:t>• Integration with Mobile Learning Apps.</a:t>
            </a:r>
          </a:p>
          <a:p>
            <a:pPr>
              <a:spcAft>
                <a:spcPts val="1000"/>
              </a:spcAft>
              <a:defRPr sz="1800">
                <a:solidFill>
                  <a:srgbClr val="F8FAFC"/>
                </a:solidFill>
              </a:defRPr>
            </a:pPr>
            <a:r>
              <a:t>• Plagiarism detection for descriptive answers.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0" y="1371600"/>
            <a:ext cx="3383280" cy="4114800"/>
          </a:xfrm>
          <a:prstGeom prst="rect">
            <a:avLst/>
          </a:prstGeom>
          <a:solidFill>
            <a:srgbClr val="1E293B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0" y="3246120"/>
            <a:ext cx="33832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94A3B8"/>
                </a:solidFill>
              </a:defRPr>
            </a:pPr>
            <a:r>
              <a:t>Visual Demo / Screenshot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3B82F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182880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5400">
                <a:solidFill>
                  <a:srgbClr val="F59E0B"/>
                </a:solidFill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274320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3B82F6"/>
                </a:solidFill>
              </a:defRPr>
            </a:pPr>
            <a:r>
              <a:t>Revolutionizing Academic Integrity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